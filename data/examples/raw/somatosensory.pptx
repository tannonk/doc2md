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7199986" cy="9000439"/>
  <p:notesSz cx="9000439" cy="719998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atomy of the Somatosensory System" id="{9bf9bfd1-b471-1938-d4ff-9b5d976a9aee}">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_FIRS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22376" y="932688"/>
            <a:ext cx="5760720" cy="640080"/>
          </a:xfrm>
          <a:prstGeom prst="rect">
            <a:avLst/>
          </a:prstGeom>
          <a:noFill/>
          <a:ln/>
        </p:spPr>
        <p:txBody>
          <a:bodyPr wrap="square" rtlCol="0"/>
          <a:lstStyle>
            <a:lvl1pPr indent="0" marL="0">
              <a:buNone/>
              <a:defRPr lang="en-US" sz="2500" dirty="0">
                <a:solidFill>
                  <a:schemeClr val="tx1"/>
                </a:solidFill>
              </a:defRPr>
            </a:lvl1pPr>
          </a:lstStyle>
          <a:p>
            <a:pPr indent="0" marL="0">
              <a:buNone/>
            </a:pPr>
            <a:endParaRPr lang="en-US" sz="2500" dirty="0"/>
          </a:p>
        </p:txBody>
      </p:sp>
      <p:sp>
        <p:nvSpPr>
          <p:cNvPr id="25" name="Slide Number Placeholder 0"/>
          <p:cNvSpPr>
            <a:spLocks noGrp="1"/>
          </p:cNvSpPr>
          <p:nvPr>
            <p:ph type="sldNum" sz="quarter" idx="4294967295"/>
          </p:nvPr>
        </p:nvSpPr>
        <p:spPr>
          <a:xfrm>
            <a:off x="5833872" y="8321040"/>
            <a:ext cx="8229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_LEFT_HEAD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2376" y="630936"/>
            <a:ext cx="2743200" cy="274320"/>
          </a:xfrm>
          <a:prstGeom prst="rect">
            <a:avLst/>
          </a:prstGeom>
          <a:noFill/>
          <a:ln/>
        </p:spPr>
        <p:txBody>
          <a:bodyPr wrap="square" lIns="0" tIns="0" rIns="0" bIns="0" rtlCol="0" anchor="t"/>
          <a:lstStyle/>
          <a:p>
            <a:pPr algn="l" indent="0" marL="0">
              <a:buNone/>
            </a:pPr>
            <a:r>
              <a:rPr lang="en-US" sz="1050" dirty="0">
                <a:solidFill>
                  <a:srgbClr val="000000"/>
                </a:solidFill>
                <a:latin typeface="Calibri" pitchFamily="34" charset="0"/>
                <a:ea typeface="Calibri" pitchFamily="34" charset="-122"/>
                <a:cs typeface="Calibri" pitchFamily="34" charset="-120"/>
              </a:rPr>
              <a:t>From Wikibooks</a:t>
            </a:r>
            <a:endParaRPr lang="en-US" sz="1050" dirty="0"/>
          </a:p>
        </p:txBody>
      </p:sp>
      <p:sp>
        <p:nvSpPr>
          <p:cNvPr id="25" name="Slide Number Placeholder 0"/>
          <p:cNvSpPr>
            <a:spLocks noGrp="1"/>
          </p:cNvSpPr>
          <p:nvPr>
            <p:ph type="sldNum" sz="quarter" idx="4294967295"/>
          </p:nvPr>
        </p:nvSpPr>
        <p:spPr>
          <a:xfrm>
            <a:off x="630936" y="8321040"/>
            <a:ext cx="8229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GE_RIGHT_HEAD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82696" y="630936"/>
            <a:ext cx="3200400" cy="274320"/>
          </a:xfrm>
          <a:prstGeom prst="rect">
            <a:avLst/>
          </a:prstGeom>
          <a:noFill/>
          <a:ln/>
        </p:spPr>
        <p:txBody>
          <a:bodyPr wrap="square" lIns="0" tIns="0" rIns="0" bIns="0" rtlCol="0" anchor="t"/>
          <a:lstStyle/>
          <a:p>
            <a:pPr algn="r" indent="0" marL="0">
              <a:buNone/>
            </a:pPr>
            <a:r>
              <a:rPr lang="en-US" sz="1050" dirty="0">
                <a:solidFill>
                  <a:srgbClr val="000000"/>
                </a:solidFill>
                <a:latin typeface="Calibri" pitchFamily="34" charset="0"/>
                <a:ea typeface="Calibri" pitchFamily="34" charset="-122"/>
                <a:cs typeface="Calibri" pitchFamily="34" charset="-120"/>
              </a:rPr>
              <a:t>Anatomy of the Somatosensory System</a:t>
            </a:r>
            <a:endParaRPr lang="en-US" sz="1050" dirty="0"/>
          </a:p>
        </p:txBody>
      </p:sp>
      <p:sp>
        <p:nvSpPr>
          <p:cNvPr id="25" name="Slide Number Placeholder 0"/>
          <p:cNvSpPr>
            <a:spLocks noGrp="1"/>
          </p:cNvSpPr>
          <p:nvPr>
            <p:ph type="sldNum" sz="quarter" idx="4294967295"/>
          </p:nvPr>
        </p:nvSpPr>
        <p:spPr>
          <a:xfrm>
            <a:off x="5833872" y="8321040"/>
            <a:ext cx="8229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33872" y="8321040"/>
            <a:ext cx="8229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22376" y="932688"/>
            <a:ext cx="5760720" cy="640080"/>
          </a:xfrm>
          <a:prstGeom prst="rect">
            <a:avLst/>
          </a:prstGeom>
          <a:noFill/>
          <a:ln/>
        </p:spPr>
        <p:txBody>
          <a:bodyPr wrap="square" lIns="0" tIns="0" rIns="0" bIns="0" rtlCol="0" anchor="t"/>
          <a:lstStyle/>
          <a:p>
            <a:pPr algn="l" indent="0" marL="0">
              <a:buNone/>
            </a:pPr>
            <a:r>
              <a:rPr lang="en-US" sz="2500" dirty="0">
                <a:solidFill>
                  <a:schemeClr val="tx1"/>
                </a:solidFill>
              </a:rPr>
              <a:t>Anatomy of the Somatosensory System</a:t>
            </a:r>
            <a:endParaRPr lang="en-US" sz="2500" dirty="0"/>
          </a:p>
        </p:txBody>
      </p:sp>
      <p:sp>
        <p:nvSpPr>
          <p:cNvPr id="3" name="Byline"/>
          <p:cNvSpPr txBox="1"/>
          <p:nvPr/>
        </p:nvSpPr>
        <p:spPr>
          <a:xfrm>
            <a:off x="722376" y="1828800"/>
            <a:ext cx="3200400" cy="2743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F</a:t>
            </a:r>
            <a:pPr indent="0" marL="0">
              <a:buNone/>
            </a:pPr>
            <a:r>
              <a:rPr lang="en-US" sz="880" dirty="0">
                <a:solidFill>
                  <a:schemeClr val="tx1"/>
                </a:solidFill>
                <a:latin typeface="Calibri" pitchFamily="34" charset="0"/>
                <a:ea typeface="Calibri" pitchFamily="34" charset="-122"/>
                <a:cs typeface="Calibri" pitchFamily="34" charset="-120"/>
              </a:rPr>
              <a:t>ROM </a:t>
            </a:r>
            <a:pPr indent="0" marL="0">
              <a:buNone/>
            </a:pPr>
            <a:r>
              <a:rPr lang="en-US" sz="1100" dirty="0">
                <a:solidFill>
                  <a:schemeClr val="tx1"/>
                </a:solidFill>
                <a:latin typeface="Calibri" pitchFamily="34" charset="0"/>
                <a:ea typeface="Calibri" pitchFamily="34" charset="-122"/>
                <a:cs typeface="Calibri" pitchFamily="34" charset="-120"/>
              </a:rPr>
              <a:t>W</a:t>
            </a:r>
            <a:pPr indent="0" marL="0">
              <a:buNone/>
            </a:pPr>
            <a:r>
              <a:rPr lang="en-US" sz="880" dirty="0">
                <a:solidFill>
                  <a:schemeClr val="tx1"/>
                </a:solidFill>
                <a:latin typeface="Calibri" pitchFamily="34" charset="0"/>
                <a:ea typeface="Calibri" pitchFamily="34" charset="-122"/>
                <a:cs typeface="Calibri" pitchFamily="34" charset="-120"/>
              </a:rPr>
              <a:t>IKIBOOKS</a:t>
            </a:r>
            <a:pPr indent="0" marL="0">
              <a:buNone/>
            </a:pPr>
            <a:r>
              <a:rPr lang="en-US" sz="1100" baseline="30000" dirty="0">
                <a:solidFill>
                  <a:schemeClr val="tx1"/>
                </a:solidFill>
                <a:latin typeface="Calibri" pitchFamily="34" charset="0"/>
                <a:ea typeface="Calibri" pitchFamily="34" charset="-122"/>
                <a:cs typeface="Calibri" pitchFamily="34" charset="-120"/>
              </a:rPr>
              <a:t>1</a:t>
            </a:r>
            <a:endParaRPr lang="en-US" sz="1100" dirty="0"/>
          </a:p>
        </p:txBody>
      </p:sp>
      <p:sp>
        <p:nvSpPr>
          <p:cNvPr id="4" name="Introduction"/>
          <p:cNvSpPr txBox="1"/>
          <p:nvPr/>
        </p:nvSpPr>
        <p:spPr>
          <a:xfrm>
            <a:off x="722376" y="2267712"/>
            <a:ext cx="3593592" cy="1234440"/>
          </a:xfrm>
          <a:prstGeom prst="rect">
            <a:avLst/>
          </a:prstGeom>
          <a:noFill/>
          <a:ln/>
        </p:spPr>
        <p:txBody>
          <a:bodyPr wrap="square" lIns="0" tIns="0" rIns="0" bIns="0" rtlCol="0" anchor="t"/>
          <a:lstStyle/>
          <a:p>
            <a:pPr algn="just" indent="0" marL="0">
              <a:lnSpc>
                <a:spcPts val="1350"/>
              </a:lnSpc>
              <a:buNone/>
            </a:pPr>
            <a:r>
              <a:rPr lang="en-US" sz="1050" dirty="0">
                <a:solidFill>
                  <a:schemeClr val="tx1"/>
                </a:solidFill>
              </a:rPr>
              <a:t>Our somatosensory system consists of sensors in the skin and sensors in our muscles, tendons, and joints. The receptors in the skin, the so called cutaneous receptors, tell us about temperature (</a:t>
            </a:r>
            <a:pPr algn="just" indent="0" marL="0">
              <a:lnSpc>
                <a:spcPts val="1350"/>
              </a:lnSpc>
              <a:buNone/>
            </a:pPr>
            <a:r>
              <a:rPr lang="en-US" sz="1050" i="1" dirty="0">
                <a:solidFill>
                  <a:schemeClr val="tx1"/>
                </a:solidFill>
              </a:rPr>
              <a:t>thermoreceptors</a:t>
            </a:r>
            <a:pPr algn="just" indent="0" marL="0">
              <a:lnSpc>
                <a:spcPts val="1350"/>
              </a:lnSpc>
              <a:buNone/>
            </a:pPr>
            <a:r>
              <a:rPr lang="en-US" sz="1050" dirty="0">
                <a:solidFill>
                  <a:schemeClr val="tx1"/>
                </a:solidFill>
              </a:rPr>
              <a:t>), pressure and surface texture (</a:t>
            </a:r>
            <a:pPr algn="just" indent="0" marL="0">
              <a:lnSpc>
                <a:spcPts val="1350"/>
              </a:lnSpc>
              <a:buNone/>
            </a:pPr>
            <a:r>
              <a:rPr lang="en-US" sz="1050" i="1" dirty="0">
                <a:solidFill>
                  <a:schemeClr val="tx1"/>
                </a:solidFill>
              </a:rPr>
              <a:t>mechano receptors</a:t>
            </a:r>
            <a:pPr algn="just" indent="0" marL="0">
              <a:lnSpc>
                <a:spcPts val="1350"/>
              </a:lnSpc>
              <a:buNone/>
            </a:pPr>
            <a:r>
              <a:rPr lang="en-US" sz="1050" dirty="0">
                <a:solidFill>
                  <a:schemeClr val="tx1"/>
                </a:solidFill>
              </a:rPr>
              <a:t>), and pain (</a:t>
            </a:r>
            <a:pPr algn="just" indent="0" marL="0">
              <a:lnSpc>
                <a:spcPts val="1350"/>
              </a:lnSpc>
              <a:buNone/>
            </a:pPr>
            <a:r>
              <a:rPr lang="en-US" sz="1050" i="1" dirty="0">
                <a:solidFill>
                  <a:schemeClr val="tx1"/>
                </a:solidFill>
              </a:rPr>
              <a:t>nociceptors</a:t>
            </a:r>
            <a:pPr algn="just" indent="0" marL="0">
              <a:lnSpc>
                <a:spcPts val="1350"/>
              </a:lnSpc>
              <a:buNone/>
            </a:pPr>
            <a:r>
              <a:rPr lang="en-US" sz="1050" dirty="0">
                <a:solidFill>
                  <a:schemeClr val="tx1"/>
                </a:solidFill>
              </a:rPr>
              <a:t>). The receptors in muscles and joints provide information about muscle length, muscle tension, and joint angles.</a:t>
            </a:r>
            <a:endParaRPr lang="en-US" sz="1050" dirty="0"/>
          </a:p>
        </p:txBody>
      </p:sp>
      <p:sp>
        <p:nvSpPr>
          <p:cNvPr id="5" name="Sidenote"/>
          <p:cNvSpPr/>
          <p:nvPr/>
        </p:nvSpPr>
        <p:spPr>
          <a:xfrm>
            <a:off x="4489704" y="2295144"/>
            <a:ext cx="2710282" cy="1344168"/>
          </a:xfrm>
          <a:prstGeom prst="rect">
            <a:avLst/>
          </a:prstGeom>
          <a:solidFill>
            <a:schemeClr val="accent1"/>
          </a:solidFill>
          <a:ln>
            <a:solidFill>
              <a:schemeClr val="accent1"/>
            </a:solidFill>
          </a:ln>
        </p:spPr>
        <p:txBody>
          <a:bodyPr wrap="square" lIns="190500" tIns="127000" rIns="190500" bIns="127000" rtlCol="0" anchor="ctr"/>
          <a:lstStyle/>
          <a:p>
            <a:pPr algn="l" indent="0" marL="0">
              <a:lnSpc>
                <a:spcPts val="1300"/>
              </a:lnSpc>
              <a:buNone/>
            </a:pPr>
            <a:r>
              <a:rPr lang="en-US" sz="1050" i="1" dirty="0">
                <a:solidFill>
                  <a:schemeClr val="tx1"/>
                </a:solidFill>
                <a:latin typeface="Calibri" pitchFamily="34" charset="0"/>
                <a:ea typeface="Calibri" pitchFamily="34" charset="-122"/>
                <a:cs typeface="Calibri" pitchFamily="34" charset="-120"/>
              </a:rPr>
              <a:t>This is a sample document to showcase page-based formatting. It contains a chapter from a Wikibook called Sensory Systems. None of the content has been changed in this article, but some content has been removed.</a:t>
            </a:r>
            <a:endParaRPr lang="en-US" sz="1050" dirty="0"/>
          </a:p>
        </p:txBody>
      </p:sp>
      <p:sp>
        <p:nvSpPr>
          <p:cNvPr id="6" name="Section heading"/>
          <p:cNvSpPr txBox="1"/>
          <p:nvPr/>
        </p:nvSpPr>
        <p:spPr>
          <a:xfrm>
            <a:off x="722376" y="3657600"/>
            <a:ext cx="3593592" cy="320040"/>
          </a:xfrm>
          <a:prstGeom prst="rect">
            <a:avLst/>
          </a:prstGeom>
          <a:noFill/>
          <a:ln/>
        </p:spPr>
        <p:txBody>
          <a:bodyPr wrap="square" lIns="0" tIns="0" rIns="0" bIns="0" rtlCol="0" anchor="t"/>
          <a:lstStyle/>
          <a:p>
            <a:pPr algn="l" indent="0" marL="0">
              <a:lnSpc>
                <a:spcPts val="1600"/>
              </a:lnSpc>
              <a:spcAft>
                <a:spcPts val="800"/>
              </a:spcAft>
              <a:buNone/>
            </a:pPr>
            <a:r>
              <a:rPr lang="en-US" sz="1400" dirty="0">
                <a:solidFill>
                  <a:schemeClr val="tx1"/>
                </a:solidFill>
                <a:latin typeface="Calibri" pitchFamily="34" charset="0"/>
                <a:ea typeface="Calibri" pitchFamily="34" charset="-122"/>
                <a:cs typeface="Calibri" pitchFamily="34" charset="-120"/>
              </a:rPr>
              <a:t>Cutaneous receptors</a:t>
            </a:r>
            <a:endParaRPr lang="en-US" sz="1400" dirty="0"/>
          </a:p>
        </p:txBody>
      </p:sp>
      <p:sp>
        <p:nvSpPr>
          <p:cNvPr id="7" name="Body text"/>
          <p:cNvSpPr txBox="1"/>
          <p:nvPr/>
        </p:nvSpPr>
        <p:spPr>
          <a:xfrm>
            <a:off x="722376" y="3959352"/>
            <a:ext cx="3593592" cy="914400"/>
          </a:xfrm>
          <a:prstGeom prst="rect">
            <a:avLst/>
          </a:prstGeom>
          <a:noFill/>
          <a:ln/>
        </p:spPr>
        <p:txBody>
          <a:bodyPr wrap="square" lIns="0" tIns="0" rIns="0" bIns="0" rtlCol="0" anchor="t"/>
          <a:lstStyle/>
          <a:p>
            <a:pPr algn="just" indent="0" marL="0">
              <a:lnSpc>
                <a:spcPts val="1350"/>
              </a:lnSpc>
              <a:buNone/>
            </a:pPr>
            <a:r>
              <a:rPr lang="en-US" sz="1050" dirty="0">
                <a:solidFill>
                  <a:schemeClr val="tx1"/>
                </a:solidFill>
              </a:rPr>
              <a:t>Sensory information from </a:t>
            </a:r>
            <a:pPr algn="just" indent="0" marL="0">
              <a:lnSpc>
                <a:spcPts val="1350"/>
              </a:lnSpc>
              <a:buNone/>
            </a:pPr>
            <a:r>
              <a:rPr lang="en-US" sz="1050" i="1" dirty="0">
                <a:solidFill>
                  <a:schemeClr val="tx1"/>
                </a:solidFill>
              </a:rPr>
              <a:t>Meissner corpuscles</a:t>
            </a:r>
            <a:pPr algn="just" indent="0" marL="0">
              <a:lnSpc>
                <a:spcPts val="1350"/>
              </a:lnSpc>
              <a:buNone/>
            </a:pPr>
            <a:r>
              <a:rPr lang="en-US" sz="1050" dirty="0">
                <a:solidFill>
                  <a:schemeClr val="tx1"/>
                </a:solidFill>
              </a:rPr>
              <a:t> and rapidly adapting afferents leads to adjustment of grip force when objects are lifted. These afferents respond with a brief burst of action potentials when objects move a small distance during the early stages of lifting. In response to</a:t>
            </a:r>
            <a:endParaRPr lang="en-US" sz="1050" dirty="0"/>
          </a:p>
        </p:txBody>
      </p:sp>
      <p:pic>
        <p:nvPicPr>
          <p:cNvPr id="8" name="Figure 1" descr="Figure 1: cross-section of hairy and glabrous skin showing epidermis, dermis and receptors (free nerve ending, Merkel's receptor, Meissner's corpuscle, Ruffini's corpuscle, hair receptor, Pacinian corpuscle, sebaceous gland).">    </p:cNvPr>
          <p:cNvPicPr>
            <a:picLocks noChangeAspect="1"/>
          </p:cNvPicPr>
          <p:nvPr/>
        </p:nvPicPr>
        <p:blipFill>
          <a:blip r:embed="rId1"/>
          <a:stretch>
            <a:fillRect/>
          </a:stretch>
        </p:blipFill>
        <p:spPr>
          <a:xfrm>
            <a:off x="640080" y="4861865"/>
            <a:ext cx="3749040" cy="2941625"/>
          </a:xfrm>
          <a:prstGeom prst="rect">
            <a:avLst/>
          </a:prstGeom>
        </p:spPr>
      </p:pic>
      <p:sp>
        <p:nvSpPr>
          <p:cNvPr id="9" name="Figure 1 caption"/>
          <p:cNvSpPr txBox="1"/>
          <p:nvPr/>
        </p:nvSpPr>
        <p:spPr>
          <a:xfrm>
            <a:off x="4498848" y="4937760"/>
            <a:ext cx="1984248" cy="2011680"/>
          </a:xfrm>
          <a:prstGeom prst="rect">
            <a:avLst/>
          </a:prstGeom>
          <a:noFill/>
          <a:ln/>
        </p:spPr>
        <p:txBody>
          <a:bodyPr wrap="square" lIns="0" tIns="0" rIns="0" bIns="0" rtlCol="0" anchor="t"/>
          <a:lstStyle/>
          <a:p>
            <a:pPr algn="just" indent="0" marL="0">
              <a:lnSpc>
                <a:spcPts val="1250"/>
              </a:lnSpc>
              <a:buNone/>
            </a:pPr>
            <a:r>
              <a:rPr lang="en-US" sz="950" i="1" dirty="0">
                <a:solidFill>
                  <a:schemeClr val="tx1"/>
                </a:solidFill>
              </a:rPr>
              <a:t>Figure 1: Receptors in the human skin: Mechanoreceptors can be free receptors or encapsulated. Examples for free receptors are the hair receptors at the roots of hairs. Encapsulated receptors are the Pacinian corpuscles and the receptors in the glabrous (hairless) skin: Meissner corpuscles, Ruffini corpuscles and Merkel’s disks.</a:t>
            </a:r>
            <a:endParaRPr lang="en-US" sz="950" dirty="0"/>
          </a:p>
        </p:txBody>
      </p:sp>
      <p:sp>
        <p:nvSpPr>
          <p:cNvPr id="10" name="Footnote rule"/>
          <p:cNvSpPr/>
          <p:nvPr/>
        </p:nvSpPr>
        <p:spPr>
          <a:xfrm>
            <a:off x="722376" y="7845552"/>
            <a:ext cx="950976" cy="0"/>
          </a:xfrm>
          <a:prstGeom prst="line">
            <a:avLst/>
          </a:prstGeom>
          <a:noFill/>
          <a:ln w="6350">
            <a:solidFill>
              <a:schemeClr val="tx1"/>
            </a:solidFill>
            <a:prstDash val="solid"/>
          </a:ln>
        </p:spPr>
      </p:sp>
      <p:sp>
        <p:nvSpPr>
          <p:cNvPr id="11" name="Footnote"/>
          <p:cNvSpPr txBox="1"/>
          <p:nvPr/>
        </p:nvSpPr>
        <p:spPr>
          <a:xfrm>
            <a:off x="722376" y="7900416"/>
            <a:ext cx="5852160" cy="274320"/>
          </a:xfrm>
          <a:prstGeom prst="rect">
            <a:avLst/>
          </a:prstGeom>
          <a:noFill/>
          <a:ln/>
        </p:spPr>
        <p:txBody>
          <a:bodyPr wrap="square" lIns="0" tIns="0" rIns="0" bIns="0" rtlCol="0" anchor="t"/>
          <a:lstStyle/>
          <a:p>
            <a:pPr indent="0" marL="0">
              <a:buNone/>
            </a:pPr>
            <a:r>
              <a:rPr lang="en-US" sz="800" baseline="30000" dirty="0">
                <a:solidFill>
                  <a:schemeClr val="tx1"/>
                </a:solidFill>
                <a:latin typeface="Calibri" pitchFamily="34" charset="0"/>
                <a:ea typeface="Calibri" pitchFamily="34" charset="-122"/>
                <a:cs typeface="Calibri" pitchFamily="34" charset="-120"/>
              </a:rPr>
              <a:t>1</a:t>
            </a:r>
            <a:pPr indent="0" marL="0">
              <a:buNone/>
            </a:pPr>
            <a:r>
              <a:rPr lang="en-US" sz="1050" dirty="0">
                <a:solidFill>
                  <a:schemeClr val="tx1"/>
                </a:solidFill>
                <a:latin typeface="Calibri" pitchFamily="34" charset="0"/>
                <a:ea typeface="Calibri" pitchFamily="34" charset="-122"/>
                <a:cs typeface="Calibri" pitchFamily="34" charset="-120"/>
              </a:rPr>
              <a:t> The following description is based on lecture notes from Laszlo Zaborszky, from Rutgers University.</a:t>
            </a:r>
            <a:endParaRPr lang="en-US" sz="800" dirty="0"/>
          </a:p>
        </p:txBody>
      </p:sp>
      <p:sp>
        <p:nvSpPr>
          <p:cNvPr id="25" name="Slide Number Placeholder 0"/>
          <p:cNvSpPr>
            <a:spLocks noGrp="1"/>
          </p:cNvSpPr>
          <p:nvPr>
            <p:ph type="sldNum" sz="quarter" idx="4294967295"/>
          </p:nvPr>
        </p:nvSpPr>
        <p:spPr>
          <a:xfrm>
            <a:off x="5833872" y="8321040"/>
            <a:ext cx="8229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Figure 2 caption"/>
          <p:cNvSpPr txBox="1"/>
          <p:nvPr/>
        </p:nvSpPr>
        <p:spPr>
          <a:xfrm>
            <a:off x="722376" y="1078992"/>
            <a:ext cx="1975104" cy="2377440"/>
          </a:xfrm>
          <a:prstGeom prst="rect">
            <a:avLst/>
          </a:prstGeom>
          <a:noFill/>
          <a:ln/>
        </p:spPr>
        <p:txBody>
          <a:bodyPr wrap="square" lIns="0" tIns="0" rIns="0" bIns="0" rtlCol="0" anchor="t"/>
          <a:lstStyle/>
          <a:p>
            <a:pPr algn="just" indent="0" marL="0">
              <a:lnSpc>
                <a:spcPts val="1250"/>
              </a:lnSpc>
              <a:buNone/>
            </a:pPr>
            <a:r>
              <a:rPr lang="en-US" sz="950" i="1" dirty="0">
                <a:solidFill>
                  <a:schemeClr val="tx1"/>
                </a:solidFill>
              </a:rPr>
              <a:t>Figure 2: Mammalian muscle spindle showing typical position in a muscle (left), neuronal connections in spinal cord (middle) and expanded schematic (right). The spindle is a stretch receptor with its own motor supply consisting of several intrafusal muscle fibres. The sensory endings of a primary (group Ia) afferent and a secondary (group II) afferent coil around the non-contractile central portions of the intrafusal fibres.</a:t>
            </a:r>
            <a:endParaRPr lang="en-US" sz="950" dirty="0"/>
          </a:p>
        </p:txBody>
      </p:sp>
      <p:pic>
        <p:nvPicPr>
          <p:cNvPr id="3" name="Figure 2" descr="Figure 2: mammalian muscle spindle in a muscle (left), neuronal connections in the spinal cord (middle) and an enlarged schematic (right) with gamma motoneurons, Ia and II afferents, extrafusal muscle fascicles and intrafusal muscle fibers.">    </p:cNvPr>
          <p:cNvPicPr>
            <a:picLocks noChangeAspect="1"/>
          </p:cNvPicPr>
          <p:nvPr/>
        </p:nvPicPr>
        <p:blipFill>
          <a:blip r:embed="rId1"/>
          <a:stretch>
            <a:fillRect/>
          </a:stretch>
        </p:blipFill>
        <p:spPr>
          <a:xfrm>
            <a:off x="2880360" y="1078992"/>
            <a:ext cx="3621024" cy="2109521"/>
          </a:xfrm>
          <a:prstGeom prst="rect">
            <a:avLst/>
          </a:prstGeom>
        </p:spPr>
      </p:pic>
      <p:sp>
        <p:nvSpPr>
          <p:cNvPr id="4" name="Body text"/>
          <p:cNvSpPr txBox="1"/>
          <p:nvPr/>
        </p:nvSpPr>
        <p:spPr>
          <a:xfrm>
            <a:off x="2880360" y="3438144"/>
            <a:ext cx="3602736" cy="4846320"/>
          </a:xfrm>
          <a:prstGeom prst="rect">
            <a:avLst/>
          </a:prstGeom>
          <a:noFill/>
          <a:ln/>
        </p:spPr>
        <p:txBody>
          <a:bodyPr wrap="square" lIns="0" tIns="0" rIns="0" bIns="0" rtlCol="0" anchor="t"/>
          <a:lstStyle/>
          <a:p>
            <a:pPr algn="just" indent="0" marL="0">
              <a:lnSpc>
                <a:spcPts val="1350"/>
              </a:lnSpc>
              <a:buNone/>
            </a:pPr>
            <a:r>
              <a:rPr lang="en-US" sz="1050" dirty="0">
                <a:solidFill>
                  <a:schemeClr val="tx1"/>
                </a:solidFill>
              </a:rPr>
              <a:t>rapidly adapting afferent activity, muscle force increases reflexively until the gripped object no longer moves. Such a rapid response to a tactile stimulus is a clear indication of the role played by somatosensory neurons in motor activity.</a:t>
            </a:r>
            <a:endParaRPr lang="en-US" sz="1050" dirty="0"/>
          </a:p>
          <a:p>
            <a:pPr algn="just" indent="192024" marL="0">
              <a:lnSpc>
                <a:spcPts val="1350"/>
              </a:lnSpc>
              <a:buNone/>
            </a:pPr>
            <a:r>
              <a:rPr lang="en-US" sz="1050" dirty="0">
                <a:solidFill>
                  <a:schemeClr val="tx1"/>
                </a:solidFill>
              </a:rPr>
              <a:t>The slowly adapting </a:t>
            </a:r>
            <a:pPr algn="just" indent="192024" marL="0">
              <a:lnSpc>
                <a:spcPts val="1350"/>
              </a:lnSpc>
              <a:buNone/>
            </a:pPr>
            <a:r>
              <a:rPr lang="en-US" sz="1050" i="1" dirty="0">
                <a:solidFill>
                  <a:schemeClr val="tx1"/>
                </a:solidFill>
              </a:rPr>
              <a:t>Merkel’s receptors</a:t>
            </a:r>
            <a:pPr algn="just" indent="192024" marL="0">
              <a:lnSpc>
                <a:spcPts val="1350"/>
              </a:lnSpc>
              <a:buNone/>
            </a:pPr>
            <a:r>
              <a:rPr lang="en-US" sz="1050" dirty="0">
                <a:solidFill>
                  <a:schemeClr val="tx1"/>
                </a:solidFill>
              </a:rPr>
              <a:t> are responsible for form and texture perception. As would be expected for receptors mediating form perception, Merkel’s receptors are present at high density in the digits and around the mouth (50/mm² of skin surface), at lower density in other glabrous surfaces, and at very low density in hairy skin. This innervations density shrinks progressively with the passage of time so that by the age of 50, the density in human digits is reduced to 10/mm². Unlike rapidly adapting axons, slowly adapting fibers respond not only to the initial indentation of skin, but also to sustained indentation up to several seconds in duration.</a:t>
            </a:r>
            <a:endParaRPr lang="en-US" sz="1050" dirty="0"/>
          </a:p>
          <a:p>
            <a:pPr algn="just" indent="192024" marL="0">
              <a:lnSpc>
                <a:spcPts val="1350"/>
              </a:lnSpc>
              <a:buNone/>
            </a:pPr>
            <a:r>
              <a:rPr lang="en-US" sz="1050" dirty="0">
                <a:solidFill>
                  <a:schemeClr val="tx1"/>
                </a:solidFill>
              </a:rPr>
              <a:t>Activation of the rapidly adapting </a:t>
            </a:r>
            <a:pPr algn="just" indent="192024" marL="0">
              <a:lnSpc>
                <a:spcPts val="1350"/>
              </a:lnSpc>
              <a:buNone/>
            </a:pPr>
            <a:r>
              <a:rPr lang="en-US" sz="1050" i="1" dirty="0">
                <a:solidFill>
                  <a:schemeClr val="tx1"/>
                </a:solidFill>
              </a:rPr>
              <a:t>Pacinian corpuscles</a:t>
            </a:r>
            <a:pPr algn="just" indent="192024" marL="0">
              <a:lnSpc>
                <a:spcPts val="1350"/>
              </a:lnSpc>
              <a:buNone/>
            </a:pPr>
            <a:r>
              <a:rPr lang="en-US" sz="1050" dirty="0">
                <a:solidFill>
                  <a:schemeClr val="tx1"/>
                </a:solidFill>
              </a:rPr>
              <a:t> gives a feeling of vibration, while the slowly adapting </a:t>
            </a:r>
            <a:pPr algn="just" indent="192024" marL="0">
              <a:lnSpc>
                <a:spcPts val="1350"/>
              </a:lnSpc>
              <a:buNone/>
            </a:pPr>
            <a:r>
              <a:rPr lang="en-US" sz="1050" i="1" dirty="0">
                <a:solidFill>
                  <a:schemeClr val="tx1"/>
                </a:solidFill>
              </a:rPr>
              <a:t>Ruffini corpuscles</a:t>
            </a:r>
            <a:pPr algn="just" indent="192024" marL="0">
              <a:lnSpc>
                <a:spcPts val="1350"/>
              </a:lnSpc>
              <a:buNone/>
            </a:pPr>
            <a:r>
              <a:rPr lang="en-US" sz="1050" dirty="0">
                <a:solidFill>
                  <a:schemeClr val="tx1"/>
                </a:solidFill>
              </a:rPr>
              <a:t> respond to the lataral movement or stretching of skin.</a:t>
            </a:r>
            <a:endParaRPr lang="en-US" sz="1050" dirty="0"/>
          </a:p>
          <a:p>
            <a:pPr algn="l" indent="0" marL="0">
              <a:lnSpc>
                <a:spcPts val="1600"/>
              </a:lnSpc>
              <a:spcBef>
                <a:spcPts val="1300"/>
              </a:spcBef>
              <a:spcAft>
                <a:spcPts val="800"/>
              </a:spcAft>
              <a:buNone/>
            </a:pPr>
            <a:r>
              <a:rPr lang="en-US" sz="1400" dirty="0">
                <a:solidFill>
                  <a:schemeClr val="tx1"/>
                </a:solidFill>
                <a:latin typeface="Calibri" pitchFamily="34" charset="0"/>
                <a:ea typeface="Calibri" pitchFamily="34" charset="-122"/>
                <a:cs typeface="Calibri" pitchFamily="34" charset="-120"/>
              </a:rPr>
              <a:t>Nociceptors</a:t>
            </a:r>
            <a:endParaRPr lang="en-US" sz="1050" dirty="0"/>
          </a:p>
          <a:p>
            <a:pPr algn="just" indent="0" marL="0">
              <a:lnSpc>
                <a:spcPts val="1350"/>
              </a:lnSpc>
              <a:buNone/>
            </a:pPr>
            <a:r>
              <a:rPr lang="en-US" sz="1050" dirty="0">
                <a:solidFill>
                  <a:schemeClr val="tx1"/>
                </a:solidFill>
              </a:rPr>
              <a:t>Nociceptors have free nerve endings. Functionally, skin nociceptors are either high-threshold mechanoreceptors or </a:t>
            </a:r>
            <a:pPr algn="just" indent="0" marL="0">
              <a:lnSpc>
                <a:spcPts val="1350"/>
              </a:lnSpc>
              <a:buNone/>
            </a:pPr>
            <a:r>
              <a:rPr lang="en-US" sz="1050" i="1" dirty="0">
                <a:solidFill>
                  <a:schemeClr val="tx1"/>
                </a:solidFill>
              </a:rPr>
              <a:t>polymodal receptors</a:t>
            </a:r>
            <a:pPr algn="just" indent="0" marL="0">
              <a:lnSpc>
                <a:spcPts val="1350"/>
              </a:lnSpc>
              <a:buNone/>
            </a:pPr>
            <a:r>
              <a:rPr lang="en-US" sz="1050" dirty="0">
                <a:solidFill>
                  <a:schemeClr val="tx1"/>
                </a:solidFill>
              </a:rPr>
              <a:t>. Polymodal receptors respond not</a:t>
            </a:r>
            <a:endParaRPr lang="en-US" sz="1050" dirty="0"/>
          </a:p>
        </p:txBody>
      </p:sp>
      <p:sp>
        <p:nvSpPr>
          <p:cNvPr id="25" name="Slide Number Placeholder 0"/>
          <p:cNvSpPr>
            <a:spLocks noGrp="1"/>
          </p:cNvSpPr>
          <p:nvPr>
            <p:ph type="sldNum" sz="quarter" idx="4294967295"/>
          </p:nvPr>
        </p:nvSpPr>
        <p:spPr>
          <a:xfrm>
            <a:off x="630936" y="8321040"/>
            <a:ext cx="8229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graphicFrame>
        <p:nvGraphicFramePr>
          <p:cNvPr id="4" name="Table 1"/>
          <p:cNvGraphicFramePr>
            <a:graphicFrameLocks noGrp="1"/>
          </p:cNvGraphicFramePr>
          <p:nvPr>
            <p:extLst>
              <p:ext uri="{D42A27DB-BD31-4B8C-83A1-F6EECF244321}">
                <p14:modId xmlns:p14="http://schemas.microsoft.com/office/powerpoint/2010/main" val="1579011935"/>
              </p:ext>
            </p:extLst>
          </p:nvPr>
        </p:nvGraphicFramePr>
        <p:xfrm>
          <a:off x="722376" y="1078992"/>
          <a:ext cx="5760720" cy="914400"/>
        </p:xfrm>
        <a:graphic>
          <a:graphicData uri="http://schemas.openxmlformats.org/drawingml/2006/table">
            <a:tbl>
              <a:tblPr/>
              <a:tblGrid>
                <a:gridCol w="1152144"/>
                <a:gridCol w="2523744"/>
                <a:gridCol w="2084832"/>
              </a:tblGrid>
              <a:tr h="228600">
                <a:tc>
                  <a:txBody>
                    <a:bodyPr/>
                    <a:lstStyle/>
                    <a:p>
                      <a:pPr indent="0" marL="0">
                        <a:buNone/>
                      </a:pPr>
                      <a:endParaRPr lang="en-US" sz="1000" dirty="0">
                        <a:latin typeface="Cambria" charset="0"/>
                        <a:ea typeface="Cambria" charset="0"/>
                        <a:cs typeface="Cambria" charset="0"/>
                      </a:endParaRPr>
                    </a:p>
                  </a:txBody>
                  <a:tcPr marL="63500" marR="63500" marT="25400" marB="25400" anchor="t">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indent="0" marL="0">
                        <a:buNone/>
                      </a:pPr>
                      <a:r>
                        <a:rPr lang="en-US" sz="1000" b="1" dirty="0">
                          <a:solidFill>
                            <a:srgbClr val="000000"/>
                          </a:solidFill>
                          <a:latin typeface="Cambria" pitchFamily="34" charset="0"/>
                          <a:ea typeface="Cambria" pitchFamily="34" charset="-122"/>
                          <a:cs typeface="Cambria" pitchFamily="34" charset="-120"/>
                        </a:rPr>
                        <a:t>Rapidly adapting</a:t>
                      </a:r>
                      <a:endParaRPr lang="en-US" sz="1000" dirty="0">
                        <a:latin typeface="Cambria" charset="0"/>
                        <a:ea typeface="Cambria" charset="0"/>
                        <a:cs typeface="Cambria" charset="0"/>
                      </a:endParaRPr>
                    </a:p>
                  </a:txBody>
                  <a:tcPr marL="63500" marR="63500" marT="25400" marB="25400" anchor="t">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indent="0" marL="0">
                        <a:buNone/>
                      </a:pPr>
                      <a:r>
                        <a:rPr lang="en-US" sz="1000" b="1" dirty="0">
                          <a:solidFill>
                            <a:srgbClr val="000000"/>
                          </a:solidFill>
                          <a:latin typeface="Cambria" pitchFamily="34" charset="0"/>
                          <a:ea typeface="Cambria" pitchFamily="34" charset="-122"/>
                          <a:cs typeface="Cambria" pitchFamily="34" charset="-120"/>
                        </a:rPr>
                        <a:t>Slowly adapting</a:t>
                      </a:r>
                      <a:endParaRPr lang="en-US" sz="1000" dirty="0">
                        <a:latin typeface="Cambria" charset="0"/>
                        <a:ea typeface="Cambria" charset="0"/>
                        <a:cs typeface="Cambria" charset="0"/>
                      </a:endParaRPr>
                    </a:p>
                  </a:txBody>
                  <a:tcPr marL="63500" marR="63500" marT="25400" marB="25400" anchor="t">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6928">
                <a:tc>
                  <a:txBody>
                    <a:bodyPr/>
                    <a:lstStyle/>
                    <a:p>
                      <a:pPr indent="0" marL="0">
                        <a:buNone/>
                      </a:pPr>
                      <a:r>
                        <a:rPr lang="en-US" sz="1000" dirty="0">
                          <a:solidFill>
                            <a:srgbClr val="000000"/>
                          </a:solidFill>
                          <a:latin typeface="Cambria" pitchFamily="34" charset="0"/>
                          <a:ea typeface="Cambria" pitchFamily="34" charset="-122"/>
                          <a:cs typeface="Cambria" pitchFamily="34" charset="-120"/>
                        </a:rPr>
                        <a:t>Surface receptor / small receptive field</a:t>
                      </a:r>
                      <a:endParaRPr lang="en-US" sz="1000" dirty="0">
                        <a:latin typeface="Cambria" charset="0"/>
                        <a:ea typeface="Cambria" charset="0"/>
                        <a:cs typeface="Cambria" charset="0"/>
                      </a:endParaRPr>
                    </a:p>
                  </a:txBody>
                  <a:tcPr marL="63500" marR="63500" marT="25400" marB="25400" anchor="t">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000" i="1" dirty="0">
                          <a:solidFill>
                            <a:srgbClr val="000000"/>
                          </a:solidFill>
                          <a:latin typeface="Cambria" pitchFamily="34" charset="0"/>
                          <a:ea typeface="Cambria" pitchFamily="34" charset="-122"/>
                          <a:cs typeface="Cambria" pitchFamily="34" charset="-120"/>
                        </a:rPr>
                        <a:t>Hair receptor</a:t>
                      </a:r>
                      <a:pPr indent="0" marL="0">
                        <a:buNone/>
                      </a:pPr>
                      <a:r>
                        <a:rPr lang="en-US" sz="1000" dirty="0">
                          <a:solidFill>
                            <a:srgbClr val="000000"/>
                          </a:solidFill>
                          <a:latin typeface="Cambria" pitchFamily="34" charset="0"/>
                          <a:ea typeface="Cambria" pitchFamily="34" charset="-122"/>
                          <a:cs typeface="Cambria" pitchFamily="34" charset="-120"/>
                        </a:rPr>
                        <a:t>, </a:t>
                      </a:r>
                      <a:pPr indent="0" marL="0">
                        <a:buNone/>
                      </a:pPr>
                      <a:r>
                        <a:rPr lang="en-US" sz="1000" i="1" dirty="0">
                          <a:solidFill>
                            <a:srgbClr val="000000"/>
                          </a:solidFill>
                          <a:latin typeface="Cambria" pitchFamily="34" charset="0"/>
                          <a:ea typeface="Cambria" pitchFamily="34" charset="-122"/>
                          <a:cs typeface="Cambria" pitchFamily="34" charset="-120"/>
                        </a:rPr>
                        <a:t>Meissner’s corpuscle</a:t>
                      </a:r>
                      <a:pPr indent="0" marL="0">
                        <a:buNone/>
                      </a:pPr>
                      <a:r>
                        <a:rPr lang="en-US" sz="1000" dirty="0">
                          <a:solidFill>
                            <a:srgbClr val="000000"/>
                          </a:solidFill>
                          <a:latin typeface="Cambria" pitchFamily="34" charset="0"/>
                          <a:ea typeface="Cambria" pitchFamily="34" charset="-122"/>
                          <a:cs typeface="Cambria" pitchFamily="34" charset="-120"/>
                        </a:rPr>
                        <a:t>: Detect an insect or a very fine vibration. Used for recognizing texture.</a:t>
                      </a:r>
                      <a:endParaRPr lang="en-US" sz="1000" dirty="0">
                        <a:latin typeface="Cambria" charset="0"/>
                        <a:ea typeface="Cambria" charset="0"/>
                        <a:cs typeface="Cambria" charset="0"/>
                      </a:endParaRPr>
                    </a:p>
                  </a:txBody>
                  <a:tcPr marL="63500" marR="63500" marT="25400" marB="25400" anchor="t">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000" dirty="0">
                          <a:solidFill>
                            <a:srgbClr val="000000"/>
                          </a:solidFill>
                          <a:latin typeface="Cambria" pitchFamily="34" charset="0"/>
                          <a:ea typeface="Cambria" pitchFamily="34" charset="-122"/>
                          <a:cs typeface="Cambria" pitchFamily="34" charset="-120"/>
                        </a:rPr>
                        <a:t>Merkel’s receptor: Used for spatial details, e.g. a round surface edge or “an X” in brail.</a:t>
                      </a:r>
                      <a:endParaRPr lang="en-US" sz="1000" dirty="0">
                        <a:latin typeface="Cambria" charset="0"/>
                        <a:ea typeface="Cambria" charset="0"/>
                        <a:cs typeface="Cambria" charset="0"/>
                      </a:endParaRPr>
                    </a:p>
                  </a:txBody>
                  <a:tcPr marL="63500" marR="63500" marT="25400" marB="25400" anchor="t">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6928">
                <a:tc>
                  <a:txBody>
                    <a:bodyPr/>
                    <a:lstStyle/>
                    <a:p>
                      <a:pPr indent="0" marL="0">
                        <a:buNone/>
                      </a:pPr>
                      <a:r>
                        <a:rPr lang="en-US" sz="1000" dirty="0">
                          <a:solidFill>
                            <a:srgbClr val="000000"/>
                          </a:solidFill>
                          <a:latin typeface="Cambria" pitchFamily="34" charset="0"/>
                          <a:ea typeface="Cambria" pitchFamily="34" charset="-122"/>
                          <a:cs typeface="Cambria" pitchFamily="34" charset="-120"/>
                        </a:rPr>
                        <a:t>Deep receptor / large receptive field</a:t>
                      </a:r>
                      <a:endParaRPr lang="en-US" sz="1000" dirty="0">
                        <a:latin typeface="Cambria" charset="0"/>
                        <a:ea typeface="Cambria" charset="0"/>
                        <a:cs typeface="Cambria" charset="0"/>
                      </a:endParaRPr>
                    </a:p>
                  </a:txBody>
                  <a:tcPr marL="63500" marR="63500" marT="25400" marB="25400" anchor="t">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000" i="1" dirty="0">
                          <a:solidFill>
                            <a:srgbClr val="000000"/>
                          </a:solidFill>
                          <a:latin typeface="Cambria" pitchFamily="34" charset="0"/>
                          <a:ea typeface="Cambria" pitchFamily="34" charset="-122"/>
                          <a:cs typeface="Cambria" pitchFamily="34" charset="-120"/>
                        </a:rPr>
                        <a:t>Pacinian corpuscle</a:t>
                      </a:r>
                      <a:pPr indent="0" marL="0">
                        <a:buNone/>
                      </a:pPr>
                      <a:r>
                        <a:rPr lang="en-US" sz="1000" dirty="0">
                          <a:solidFill>
                            <a:srgbClr val="000000"/>
                          </a:solidFill>
                          <a:latin typeface="Cambria" pitchFamily="34" charset="0"/>
                          <a:ea typeface="Cambria" pitchFamily="34" charset="-122"/>
                          <a:cs typeface="Cambria" pitchFamily="34" charset="-120"/>
                        </a:rPr>
                        <a:t>: “A diffuse vibration” e.g. tapping with a pencil.</a:t>
                      </a:r>
                      <a:endParaRPr lang="en-US" sz="1000" dirty="0">
                        <a:latin typeface="Cambria" charset="0"/>
                        <a:ea typeface="Cambria" charset="0"/>
                        <a:cs typeface="Cambria" charset="0"/>
                      </a:endParaRPr>
                    </a:p>
                  </a:txBody>
                  <a:tcPr marL="63500" marR="63500" marT="25400" marB="254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000" i="1" dirty="0">
                          <a:solidFill>
                            <a:srgbClr val="000000"/>
                          </a:solidFill>
                          <a:latin typeface="Cambria" pitchFamily="34" charset="0"/>
                          <a:ea typeface="Cambria" pitchFamily="34" charset="-122"/>
                          <a:cs typeface="Cambria" pitchFamily="34" charset="-120"/>
                        </a:rPr>
                        <a:t>Ruffini’s corpuscle</a:t>
                      </a:r>
                      <a:pPr indent="0" marL="0">
                        <a:buNone/>
                      </a:pPr>
                      <a:r>
                        <a:rPr lang="en-US" sz="1000" dirty="0">
                          <a:solidFill>
                            <a:srgbClr val="000000"/>
                          </a:solidFill>
                          <a:latin typeface="Cambria" pitchFamily="34" charset="0"/>
                          <a:ea typeface="Cambria" pitchFamily="34" charset="-122"/>
                          <a:cs typeface="Cambria" pitchFamily="34" charset="-120"/>
                        </a:rPr>
                        <a:t>: “A skin stretch”. Used for joint position in fingers.</a:t>
                      </a:r>
                      <a:endParaRPr lang="en-US" sz="1000" dirty="0">
                        <a:latin typeface="Cambria" charset="0"/>
                        <a:ea typeface="Cambria" charset="0"/>
                        <a:cs typeface="Cambria" charset="0"/>
                      </a:endParaRPr>
                    </a:p>
                  </a:txBody>
                  <a:tcPr marL="63500" marR="63500" marT="25400" marB="254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3" name="Table 1 caption"/>
          <p:cNvSpPr txBox="1"/>
          <p:nvPr/>
        </p:nvSpPr>
        <p:spPr>
          <a:xfrm>
            <a:off x="722376" y="2542032"/>
            <a:ext cx="2743200" cy="228600"/>
          </a:xfrm>
          <a:prstGeom prst="rect">
            <a:avLst/>
          </a:prstGeom>
          <a:noFill/>
          <a:ln/>
        </p:spPr>
        <p:txBody>
          <a:bodyPr wrap="square" lIns="0" tIns="0" rIns="0" bIns="0" rtlCol="0" anchor="t"/>
          <a:lstStyle/>
          <a:p>
            <a:pPr algn="just" indent="0" marL="0">
              <a:lnSpc>
                <a:spcPts val="1350"/>
              </a:lnSpc>
              <a:buNone/>
            </a:pPr>
            <a:r>
              <a:rPr lang="en-US" sz="950" i="1" dirty="0">
                <a:solidFill>
                  <a:schemeClr val="tx1"/>
                </a:solidFill>
              </a:rPr>
              <a:t>Table 1</a:t>
            </a:r>
            <a:endParaRPr lang="en-US" sz="950" dirty="0"/>
          </a:p>
        </p:txBody>
      </p:sp>
      <p:sp>
        <p:nvSpPr>
          <p:cNvPr id="4" name="Sidenote"/>
          <p:cNvSpPr/>
          <p:nvPr/>
        </p:nvSpPr>
        <p:spPr>
          <a:xfrm>
            <a:off x="4489704" y="4233672"/>
            <a:ext cx="2710282" cy="1508760"/>
          </a:xfrm>
          <a:prstGeom prst="rect">
            <a:avLst/>
          </a:prstGeom>
          <a:solidFill>
            <a:schemeClr val="accent1"/>
          </a:solidFill>
          <a:ln>
            <a:solidFill>
              <a:schemeClr val="accent1"/>
            </a:solidFill>
          </a:ln>
        </p:spPr>
        <p:txBody>
          <a:bodyPr wrap="square" lIns="190500" tIns="127000" rIns="190500" bIns="127000" rtlCol="0" anchor="ctr"/>
          <a:lstStyle/>
          <a:p>
            <a:pPr algn="l" indent="0" marL="0">
              <a:lnSpc>
                <a:spcPts val="1300"/>
              </a:lnSpc>
              <a:buNone/>
            </a:pPr>
            <a:r>
              <a:rPr lang="en-US" sz="1050" i="1" dirty="0">
                <a:solidFill>
                  <a:schemeClr val="tx1"/>
                </a:solidFill>
                <a:latin typeface="Calibri" pitchFamily="34" charset="0"/>
                <a:ea typeface="Calibri" pitchFamily="34" charset="-122"/>
                <a:cs typeface="Calibri" pitchFamily="34" charset="-120"/>
              </a:rPr>
              <a:t>Notice how figure captions and sidenotes are shown in the outside margin (on the left or right, depending on whether the page is left or right). Also, figures are floated to the top/bottom of the page. Wide content, like the table and Figure 3, intrude into the outside margins.</a:t>
            </a:r>
            <a:endParaRPr lang="en-US" sz="1050" dirty="0"/>
          </a:p>
        </p:txBody>
      </p:sp>
      <p:sp>
        <p:nvSpPr>
          <p:cNvPr id="5" name="Body text"/>
          <p:cNvSpPr txBox="1"/>
          <p:nvPr/>
        </p:nvSpPr>
        <p:spPr>
          <a:xfrm>
            <a:off x="722376" y="2926080"/>
            <a:ext cx="3593592" cy="5212080"/>
          </a:xfrm>
          <a:prstGeom prst="rect">
            <a:avLst/>
          </a:prstGeom>
          <a:noFill/>
          <a:ln/>
        </p:spPr>
        <p:txBody>
          <a:bodyPr wrap="square" lIns="0" tIns="0" rIns="0" bIns="0" rtlCol="0" anchor="t"/>
          <a:lstStyle/>
          <a:p>
            <a:pPr algn="just" indent="0" marL="0">
              <a:lnSpc>
                <a:spcPts val="1350"/>
              </a:lnSpc>
              <a:buNone/>
            </a:pPr>
            <a:r>
              <a:rPr lang="en-US" sz="1050" dirty="0">
                <a:solidFill>
                  <a:schemeClr val="tx1"/>
                </a:solidFill>
              </a:rPr>
              <a:t>only to intense mechanical stimuli, but also to heat and to noxious chemicals. These receptors respond to minute punctures of the epithelium, with a response magnitude that depends on the degree of tissue deformation. They also respond to temperatures in the range of 40–60°C, and change their response rates as a linear function of warming (in contrast with the saturating responses displayed by non-noxious thermoreceptors at high temperatures).</a:t>
            </a:r>
            <a:endParaRPr lang="en-US" sz="1050" dirty="0"/>
          </a:p>
          <a:p>
            <a:pPr algn="just" indent="192024" marL="0">
              <a:lnSpc>
                <a:spcPts val="1350"/>
              </a:lnSpc>
              <a:buNone/>
            </a:pPr>
            <a:r>
              <a:rPr lang="en-US" sz="1050" dirty="0">
                <a:solidFill>
                  <a:schemeClr val="tx1"/>
                </a:solidFill>
              </a:rPr>
              <a:t>Pain signals can be separated into individual components, corresponding to different types of nerve fibers used for transmitting these signals. The rapidly transmitted signal, which often has high spatial resolution, is called </a:t>
            </a:r>
            <a:pPr algn="just" indent="192024" marL="0">
              <a:lnSpc>
                <a:spcPts val="1350"/>
              </a:lnSpc>
              <a:buNone/>
            </a:pPr>
            <a:r>
              <a:rPr lang="en-US" sz="1050" i="1" dirty="0">
                <a:solidFill>
                  <a:schemeClr val="tx1"/>
                </a:solidFill>
              </a:rPr>
              <a:t>first pain</a:t>
            </a:r>
            <a:pPr algn="just" indent="192024" marL="0">
              <a:lnSpc>
                <a:spcPts val="1350"/>
              </a:lnSpc>
              <a:buNone/>
            </a:pPr>
            <a:r>
              <a:rPr lang="en-US" sz="1050" dirty="0">
                <a:solidFill>
                  <a:schemeClr val="tx1"/>
                </a:solidFill>
              </a:rPr>
              <a:t> or </a:t>
            </a:r>
            <a:pPr algn="just" indent="192024" marL="0">
              <a:lnSpc>
                <a:spcPts val="1350"/>
              </a:lnSpc>
              <a:buNone/>
            </a:pPr>
            <a:r>
              <a:rPr lang="en-US" sz="1050" i="1" dirty="0">
                <a:solidFill>
                  <a:schemeClr val="tx1"/>
                </a:solidFill>
              </a:rPr>
              <a:t>cutaneous pricking pain</a:t>
            </a:r>
            <a:pPr algn="just" indent="192024" marL="0">
              <a:lnSpc>
                <a:spcPts val="1350"/>
              </a:lnSpc>
              <a:buNone/>
            </a:pPr>
            <a:r>
              <a:rPr lang="en-US" sz="1050" dirty="0">
                <a:solidFill>
                  <a:schemeClr val="tx1"/>
                </a:solidFill>
              </a:rPr>
              <a:t>. It is well localized and easily tolerated. The much slower, highly affective component is called </a:t>
            </a:r>
            <a:pPr algn="just" indent="192024" marL="0">
              <a:lnSpc>
                <a:spcPts val="1350"/>
              </a:lnSpc>
              <a:buNone/>
            </a:pPr>
            <a:r>
              <a:rPr lang="en-US" sz="1050" i="1" dirty="0">
                <a:solidFill>
                  <a:schemeClr val="tx1"/>
                </a:solidFill>
              </a:rPr>
              <a:t>second pain</a:t>
            </a:r>
            <a:pPr algn="just" indent="192024" marL="0">
              <a:lnSpc>
                <a:spcPts val="1350"/>
              </a:lnSpc>
              <a:buNone/>
            </a:pPr>
            <a:r>
              <a:rPr lang="en-US" sz="1050" dirty="0">
                <a:solidFill>
                  <a:schemeClr val="tx1"/>
                </a:solidFill>
              </a:rPr>
              <a:t> or </a:t>
            </a:r>
            <a:pPr algn="just" indent="192024" marL="0">
              <a:lnSpc>
                <a:spcPts val="1350"/>
              </a:lnSpc>
              <a:buNone/>
            </a:pPr>
            <a:r>
              <a:rPr lang="en-US" sz="1050" i="1" dirty="0">
                <a:solidFill>
                  <a:schemeClr val="tx1"/>
                </a:solidFill>
              </a:rPr>
              <a:t>burning pain</a:t>
            </a:r>
            <a:pPr algn="just" indent="192024" marL="0">
              <a:lnSpc>
                <a:spcPts val="1350"/>
              </a:lnSpc>
              <a:buNone/>
            </a:pPr>
            <a:r>
              <a:rPr lang="en-US" sz="1050" dirty="0">
                <a:solidFill>
                  <a:schemeClr val="tx1"/>
                </a:solidFill>
              </a:rPr>
              <a:t>; it is poorly localized and poorly tolerated. The third or </a:t>
            </a:r>
            <a:pPr algn="just" indent="192024" marL="0">
              <a:lnSpc>
                <a:spcPts val="1350"/>
              </a:lnSpc>
              <a:buNone/>
            </a:pPr>
            <a:r>
              <a:rPr lang="en-US" sz="1050" i="1" dirty="0">
                <a:solidFill>
                  <a:schemeClr val="tx1"/>
                </a:solidFill>
              </a:rPr>
              <a:t>deep pain</a:t>
            </a:r>
            <a:pPr algn="just" indent="192024" marL="0">
              <a:lnSpc>
                <a:spcPts val="1350"/>
              </a:lnSpc>
              <a:buNone/>
            </a:pPr>
            <a:r>
              <a:rPr lang="en-US" sz="1050" dirty="0">
                <a:solidFill>
                  <a:schemeClr val="tx1"/>
                </a:solidFill>
              </a:rPr>
              <a:t>, arising from viscera, musculature and joints, is also poorly localized, can be chronic and is often associated with referred pain.</a:t>
            </a:r>
            <a:endParaRPr lang="en-US" sz="1050" dirty="0"/>
          </a:p>
          <a:p>
            <a:pPr algn="l" indent="0" marL="0">
              <a:lnSpc>
                <a:spcPts val="1600"/>
              </a:lnSpc>
              <a:spcBef>
                <a:spcPts val="1300"/>
              </a:spcBef>
              <a:spcAft>
                <a:spcPts val="800"/>
              </a:spcAft>
              <a:buNone/>
            </a:pPr>
            <a:r>
              <a:rPr lang="en-US" sz="1400" dirty="0">
                <a:solidFill>
                  <a:schemeClr val="tx1"/>
                </a:solidFill>
                <a:latin typeface="Calibri" pitchFamily="34" charset="0"/>
                <a:ea typeface="Calibri" pitchFamily="34" charset="-122"/>
                <a:cs typeface="Calibri" pitchFamily="34" charset="-120"/>
              </a:rPr>
              <a:t>Muscle Spindles</a:t>
            </a:r>
            <a:endParaRPr lang="en-US" sz="1050" dirty="0"/>
          </a:p>
          <a:p>
            <a:pPr algn="just" indent="0" marL="0">
              <a:lnSpc>
                <a:spcPts val="1350"/>
              </a:lnSpc>
              <a:buNone/>
            </a:pPr>
            <a:r>
              <a:rPr lang="en-US" sz="1050" dirty="0">
                <a:solidFill>
                  <a:schemeClr val="tx1"/>
                </a:solidFill>
              </a:rPr>
              <a:t>Scattered throughout virtually every striated muscle in the body are long, thin, stretch receptors called muscle spindles. They are quite simple in principle, consisting of a few small muscle fibers with a capsule surrounding the middle third of the fibers. These fibers are called </a:t>
            </a:r>
            <a:pPr algn="just" indent="0" marL="0">
              <a:lnSpc>
                <a:spcPts val="1350"/>
              </a:lnSpc>
              <a:buNone/>
            </a:pPr>
            <a:r>
              <a:rPr lang="en-US" sz="1050" i="1" dirty="0">
                <a:solidFill>
                  <a:schemeClr val="tx1"/>
                </a:solidFill>
              </a:rPr>
              <a:t>intrafusal fibers</a:t>
            </a:r>
            <a:pPr algn="just" indent="0" marL="0">
              <a:lnSpc>
                <a:spcPts val="1350"/>
              </a:lnSpc>
              <a:buNone/>
            </a:pPr>
            <a:r>
              <a:rPr lang="en-US" sz="1050" dirty="0">
                <a:solidFill>
                  <a:schemeClr val="tx1"/>
                </a:solidFill>
              </a:rPr>
              <a:t>, in contrast to the ordinary </a:t>
            </a:r>
            <a:pPr algn="just" indent="0" marL="0">
              <a:lnSpc>
                <a:spcPts val="1350"/>
              </a:lnSpc>
              <a:buNone/>
            </a:pPr>
            <a:r>
              <a:rPr lang="en-US" sz="1050" i="1" dirty="0">
                <a:solidFill>
                  <a:schemeClr val="tx1"/>
                </a:solidFill>
              </a:rPr>
              <a:t>extrafusal fibers</a:t>
            </a:r>
            <a:pPr algn="just" indent="0" marL="0">
              <a:lnSpc>
                <a:spcPts val="1350"/>
              </a:lnSpc>
              <a:buNone/>
            </a:pPr>
            <a:r>
              <a:rPr lang="en-US" sz="1050" dirty="0">
                <a:solidFill>
                  <a:schemeClr val="tx1"/>
                </a:solidFill>
              </a:rPr>
              <a:t>. The ends of the intrafusal fibers are attached to extrafusal fibers, so whenever the muscle is stretched, the intrafusal fibers are also stretched. The central region of each intrafusal fiber has</a:t>
            </a:r>
            <a:endParaRPr lang="en-US" sz="1050" dirty="0"/>
          </a:p>
        </p:txBody>
      </p:sp>
      <p:sp>
        <p:nvSpPr>
          <p:cNvPr id="25" name="Slide Number Placeholder 0"/>
          <p:cNvSpPr>
            <a:spLocks noGrp="1"/>
          </p:cNvSpPr>
          <p:nvPr>
            <p:ph type="sldNum" sz="quarter" idx="4294967295"/>
          </p:nvPr>
        </p:nvSpPr>
        <p:spPr>
          <a:xfrm>
            <a:off x="5833872" y="8321040"/>
            <a:ext cx="8229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Figure 3" descr="Figure 3: block diagram of proprioceptive feedback loops: interneurons, alpha motor neuron, muscle, tendon organs (force feedback), load, spindles (length and velocity feedback) and gamma motor neuron (gamma bias), with force control, driving, length control and external force inputs and muscle length output.">    </p:cNvPr>
          <p:cNvPicPr>
            <a:picLocks noChangeAspect="1"/>
          </p:cNvPicPr>
          <p:nvPr/>
        </p:nvPicPr>
        <p:blipFill>
          <a:blip r:embed="rId1"/>
          <a:stretch>
            <a:fillRect/>
          </a:stretch>
        </p:blipFill>
        <p:spPr>
          <a:xfrm>
            <a:off x="640080" y="1005840"/>
            <a:ext cx="5760720" cy="2865730"/>
          </a:xfrm>
          <a:prstGeom prst="rect">
            <a:avLst/>
          </a:prstGeom>
        </p:spPr>
      </p:pic>
      <p:sp>
        <p:nvSpPr>
          <p:cNvPr id="3" name="Figure 3 caption"/>
          <p:cNvSpPr txBox="1"/>
          <p:nvPr/>
        </p:nvSpPr>
        <p:spPr>
          <a:xfrm>
            <a:off x="722376" y="3959352"/>
            <a:ext cx="5760720" cy="365760"/>
          </a:xfrm>
          <a:prstGeom prst="rect">
            <a:avLst/>
          </a:prstGeom>
          <a:noFill/>
          <a:ln/>
        </p:spPr>
        <p:txBody>
          <a:bodyPr wrap="square" lIns="0" tIns="0" rIns="0" bIns="0" rtlCol="0" anchor="t"/>
          <a:lstStyle/>
          <a:p>
            <a:pPr algn="just" indent="0" marL="0">
              <a:lnSpc>
                <a:spcPts val="1300"/>
              </a:lnSpc>
              <a:buNone/>
            </a:pPr>
            <a:r>
              <a:rPr lang="en-US" sz="1000" i="1" dirty="0">
                <a:solidFill>
                  <a:schemeClr val="tx1"/>
                </a:solidFill>
              </a:rPr>
              <a:t>Figure 3: Feedback loops for proprioceptive signals for the perception and control of limb movements. Arrows indicate excitatory connections; filled circles inhibitory connections.</a:t>
            </a:r>
            <a:endParaRPr lang="en-US" sz="1000" dirty="0"/>
          </a:p>
        </p:txBody>
      </p:sp>
      <p:sp>
        <p:nvSpPr>
          <p:cNvPr id="4" name="Sidenote"/>
          <p:cNvSpPr/>
          <p:nvPr/>
        </p:nvSpPr>
        <p:spPr>
          <a:xfrm>
            <a:off x="0" y="5248656"/>
            <a:ext cx="2697480" cy="667512"/>
          </a:xfrm>
          <a:prstGeom prst="rect">
            <a:avLst/>
          </a:prstGeom>
          <a:solidFill>
            <a:schemeClr val="accent1"/>
          </a:solidFill>
          <a:ln>
            <a:solidFill>
              <a:schemeClr val="accent1"/>
            </a:solidFill>
          </a:ln>
        </p:spPr>
        <p:txBody>
          <a:bodyPr wrap="square" lIns="723900" tIns="127000" rIns="177800" bIns="127000" rtlCol="0" anchor="ctr"/>
          <a:lstStyle/>
          <a:p>
            <a:pPr algn="r" indent="0" marL="0">
              <a:lnSpc>
                <a:spcPts val="1300"/>
              </a:lnSpc>
              <a:buNone/>
            </a:pPr>
            <a:r>
              <a:rPr lang="en-US" sz="1050" i="1" dirty="0">
                <a:solidFill>
                  <a:schemeClr val="tx1"/>
                </a:solidFill>
                <a:latin typeface="Calibri" pitchFamily="34" charset="0"/>
                <a:ea typeface="Calibri" pitchFamily="34" charset="-122"/>
                <a:cs typeface="Calibri" pitchFamily="34" charset="-120"/>
              </a:rPr>
              <a:t>For more examples of how to use HTML and CSS for paper-based publishing, see css4.pub.</a:t>
            </a:r>
            <a:endParaRPr lang="en-US" sz="1050" dirty="0"/>
          </a:p>
        </p:txBody>
      </p:sp>
      <p:sp>
        <p:nvSpPr>
          <p:cNvPr id="5" name="Body text"/>
          <p:cNvSpPr txBox="1"/>
          <p:nvPr/>
        </p:nvSpPr>
        <p:spPr>
          <a:xfrm>
            <a:off x="2880360" y="4544568"/>
            <a:ext cx="3602736" cy="3566160"/>
          </a:xfrm>
          <a:prstGeom prst="rect">
            <a:avLst/>
          </a:prstGeom>
          <a:noFill/>
          <a:ln/>
        </p:spPr>
        <p:txBody>
          <a:bodyPr wrap="square" lIns="0" tIns="0" rIns="0" bIns="0" rtlCol="0" anchor="t"/>
          <a:lstStyle/>
          <a:p>
            <a:pPr algn="just" indent="0" marL="0">
              <a:lnSpc>
                <a:spcPts val="1350"/>
              </a:lnSpc>
              <a:buNone/>
            </a:pPr>
            <a:r>
              <a:rPr lang="en-US" sz="1050" dirty="0">
                <a:solidFill>
                  <a:schemeClr val="tx1"/>
                </a:solidFill>
              </a:rPr>
              <a:t>few myofilaments and is non-contractile, but it does have one or more sensory endings applied to it. When the muscle is stretched, the central part of the intrafusal fiber is stretched and each sensory ending fires impulses.</a:t>
            </a:r>
            <a:endParaRPr lang="en-US" sz="1050" dirty="0"/>
          </a:p>
          <a:p>
            <a:pPr algn="just" indent="192024" marL="0">
              <a:lnSpc>
                <a:spcPts val="1350"/>
              </a:lnSpc>
              <a:buNone/>
            </a:pPr>
            <a:r>
              <a:rPr lang="en-US" sz="1050" dirty="0">
                <a:solidFill>
                  <a:schemeClr val="tx1"/>
                </a:solidFill>
              </a:rPr>
              <a:t>Muscle spindles also receive a motor innervation. The large motor neurons that supply extrafusal muscle fibers are called </a:t>
            </a:r>
            <a:pPr algn="just" indent="192024" marL="0">
              <a:lnSpc>
                <a:spcPts val="1350"/>
              </a:lnSpc>
              <a:buNone/>
            </a:pPr>
            <a:r>
              <a:rPr lang="en-US" sz="1050" i="1" dirty="0">
                <a:solidFill>
                  <a:schemeClr val="tx1"/>
                </a:solidFill>
              </a:rPr>
              <a:t>alpha motor neurons</a:t>
            </a:r>
            <a:pPr algn="just" indent="192024" marL="0">
              <a:lnSpc>
                <a:spcPts val="1350"/>
              </a:lnSpc>
              <a:buNone/>
            </a:pPr>
            <a:r>
              <a:rPr lang="en-US" sz="1050" dirty="0">
                <a:solidFill>
                  <a:schemeClr val="tx1"/>
                </a:solidFill>
              </a:rPr>
              <a:t>, while the smaller ones supplying the contractile portions of intrafusal fibers are called </a:t>
            </a:r>
            <a:pPr algn="just" indent="192024" marL="0">
              <a:lnSpc>
                <a:spcPts val="1350"/>
              </a:lnSpc>
              <a:buNone/>
            </a:pPr>
            <a:r>
              <a:rPr lang="en-US" sz="1050" i="1" dirty="0">
                <a:solidFill>
                  <a:schemeClr val="tx1"/>
                </a:solidFill>
              </a:rPr>
              <a:t>gamma neurons</a:t>
            </a:r>
            <a:pPr algn="just" indent="192024" marL="0">
              <a:lnSpc>
                <a:spcPts val="1350"/>
              </a:lnSpc>
              <a:buNone/>
            </a:pPr>
            <a:r>
              <a:rPr lang="en-US" sz="1050" dirty="0">
                <a:solidFill>
                  <a:schemeClr val="tx1"/>
                </a:solidFill>
              </a:rPr>
              <a:t>. Gamma motor neurons can regulate the sensitivity of the muscle spindle so that this sensitivity can be maintained at any given muscle length.</a:t>
            </a:r>
            <a:endParaRPr lang="en-US" sz="1050" dirty="0"/>
          </a:p>
          <a:p>
            <a:pPr algn="l" indent="0" marL="0">
              <a:lnSpc>
                <a:spcPts val="1600"/>
              </a:lnSpc>
              <a:spcBef>
                <a:spcPts val="1300"/>
              </a:spcBef>
              <a:spcAft>
                <a:spcPts val="800"/>
              </a:spcAft>
              <a:buNone/>
            </a:pPr>
            <a:r>
              <a:rPr lang="en-US" sz="1400" dirty="0">
                <a:solidFill>
                  <a:schemeClr val="tx1"/>
                </a:solidFill>
                <a:latin typeface="Calibri" pitchFamily="34" charset="0"/>
                <a:ea typeface="Calibri" pitchFamily="34" charset="-122"/>
                <a:cs typeface="Calibri" pitchFamily="34" charset="-120"/>
              </a:rPr>
              <a:t>Joint receptors</a:t>
            </a:r>
            <a:endParaRPr lang="en-US" sz="1050" dirty="0"/>
          </a:p>
          <a:p>
            <a:pPr algn="just" indent="0" marL="0">
              <a:lnSpc>
                <a:spcPts val="1350"/>
              </a:lnSpc>
              <a:buNone/>
            </a:pPr>
            <a:r>
              <a:rPr lang="en-US" sz="1050" dirty="0">
                <a:solidFill>
                  <a:schemeClr val="tx1"/>
                </a:solidFill>
              </a:rPr>
              <a:t>The joint receptors are low-threshold mechanoreceptors and have been divided into four groups. They signal different characteristics of joint function (position, movements, direction and speed of movements). The free receptors or type 4 joint receptors are nociceptors.</a:t>
            </a:r>
            <a:endParaRPr lang="en-US" sz="1050" dirty="0"/>
          </a:p>
        </p:txBody>
      </p:sp>
      <p:sp>
        <p:nvSpPr>
          <p:cNvPr id="25" name="Slide Number Placeholder 0"/>
          <p:cNvSpPr>
            <a:spLocks noGrp="1"/>
          </p:cNvSpPr>
          <p:nvPr>
            <p:ph type="sldNum" sz="quarter" idx="4294967295"/>
          </p:nvPr>
        </p:nvSpPr>
        <p:spPr>
          <a:xfrm>
            <a:off x="630936" y="8321040"/>
            <a:ext cx="8229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Wikibooks Page">
  <a:themeElements>
    <a:clrScheme name="Wikibooks Page">
      <a:dk1>
        <a:srgbClr val="000000"/>
      </a:dk1>
      <a:lt1>
        <a:srgbClr val="FFFFFF"/>
      </a:lt1>
      <a:dk2>
        <a:srgbClr val="444444"/>
      </a:dk2>
      <a:lt2>
        <a:srgbClr val="F2F2F2"/>
      </a:lt2>
      <a:accent1>
        <a:srgbClr val="FFCCCC"/>
      </a:accent1>
      <a:accent2>
        <a:srgbClr val="E8112D"/>
      </a:accent2>
      <a:accent3>
        <a:srgbClr val="777777"/>
      </a:accent3>
      <a:accent4>
        <a:srgbClr val="999999"/>
      </a:accent4>
      <a:accent5>
        <a:srgbClr val="CCCCCC"/>
      </a:accent5>
      <a:accent6>
        <a:srgbClr val="333333"/>
      </a:accent6>
      <a:hlink>
        <a:srgbClr val="0563C1"/>
      </a:hlink>
      <a:folHlink>
        <a:srgbClr val="954F72"/>
      </a:folHlink>
    </a:clrScheme>
    <a:fontScheme name="Wikibooks Pag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Anatomy of the Somatosensory System</dc:title>
  <dc:subject>Sample page-based document recreated from PDF</dc:subject>
  <dc:creator>Wikibooks (Sensory Systems)</dc:creator>
  <cp:lastModifiedBy>Wikibooks (Sensory Systems)</cp:lastModifiedBy>
  <cp:revision>1</cp:revision>
  <dcterms:created xsi:type="dcterms:W3CDTF">2026-10-02T11:48:13Z</dcterms:created>
  <dcterms:modified xsi:type="dcterms:W3CDTF">2026-10-02T11:48:13Z</dcterms:modified>
</cp:coreProperties>
</file>